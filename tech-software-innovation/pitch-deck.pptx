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81" r:id="rId9"/>
    <p:sldId id="277" r:id="rId10"/>
    <p:sldId id="278" r:id="rId11"/>
    <p:sldId id="279" r:id="rId12"/>
    <p:sldId id="282" r:id="rId13"/>
    <p:sldId id="283" r:id="rId14"/>
    <p:sldId id="284" r:id="rId15"/>
    <p:sldId id="28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A3DF"/>
    <a:srgbClr val="FFD700"/>
    <a:srgbClr val="0344A2"/>
    <a:srgbClr val="00B4A6"/>
    <a:srgbClr val="E6EDF6"/>
    <a:srgbClr val="DD1311"/>
    <a:srgbClr val="0A1227"/>
    <a:srgbClr val="1D57AB"/>
    <a:srgbClr val="4A5568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56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B3828-157C-0DB7-A5AD-17E85EFE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35DB8-43D0-A52F-A8F6-D7F48C3BA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C9720-8895-003A-64B5-BEA49611C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1C049-032C-77B2-E08D-CEBB54A46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23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F839-F8B6-8FCE-32FB-509D80C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CC822-802C-25D2-EB3E-A7EE38DBC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365CC-D5C7-8BE9-4CC1-8AB3EB461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8B6E1-F89C-0693-8D4C-7091EBF7AB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93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1665-2E79-0126-09B4-3560263F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E14D3-23FF-67A3-D311-83363120F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7E78B-7DE0-6988-4BA8-74A5EBAC6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DEBF7-BC71-DAA8-2F22-EBF08FADE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84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DB31-AD4D-BBD8-D468-EA2459B2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B5A7F-1E88-43C4-54E7-EA1D53319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A2091-0DA6-99A7-ED2F-0005ACDB4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CE9B5-1EA8-183D-CB5C-48C86F84B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6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4C91B-27CB-60E7-7C54-FFD6BC93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30141-6913-4077-0AD9-192420C3F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C000-050C-60E3-AC4B-2D664FA71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947D0-54AA-997C-DEB2-C22A8BF48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92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640E2-A995-7A53-D314-43B456C0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B0E0C-D660-CA40-54E7-82F97395C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15A46-8054-D9D5-32A1-7B1F1EA39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70585-4F36-F0AB-B475-8F6B430D8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16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A7DE-F223-179C-0187-A8D221B0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ED4B3-2B02-5630-F083-BD87DA307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6919F-B062-4D18-DF0F-F1FF12298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D8C3E-13B8-CAB7-2C09-0B1C424A2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C406-EA41-6A92-F5CA-29600923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F1283-8E2E-EE30-320B-A1CB4E3C1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8C793-F030-DBCE-7387-16A48C9D3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53B9C-B82D-D8CC-C4C8-25856D149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2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99E3-5B6B-E2CA-31AE-28C5ACDE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A9A10-32B5-9DA0-D7E6-E42F0F88A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31ED0-CF9C-F9D8-1953-5E94C11C4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ECE47-FD91-BF5F-18E7-3B6C103F4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80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3420A-7054-DC41-05E6-DCAE4BDD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63C78-985A-02E7-2114-32D5CEC22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2989A-9C76-6E58-5F4C-591142766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AA527-59F5-7D78-EF18-9E40188285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59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EC86-79A4-DC30-FFA3-24B9E0531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D1EE9-C6E7-57FA-AA5A-3186F467D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F467A-0441-43AD-1FC6-2D0AD500F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E37B-2C3E-3C66-E7FF-8C8CF3FB2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649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3F8DD-599A-26A8-45DF-79A405B7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B42E8-6D8D-1BB9-3CFA-E6D75C89A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F783C-F115-4989-CE76-E8674075D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2BAAF-4072-1553-5EEB-80B4562F4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53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E228C-9B4C-9CB2-7ED9-212D923F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CABD4-BEA4-C3A3-BB39-05602C2B8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838DB-C2A5-3936-F007-4D0288492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0D8BC-0F15-341B-BA62-CAB908305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10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24C8-A905-D831-74FF-16B87EB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EBF365-70DE-EE95-A9A5-B0F9CC17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A5058-71C1-2014-F19D-5A955BC7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A39D-4271-BBE1-60EA-7E49A41C4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08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D19DED-EAB4-A685-FE3E-188B49496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Explora el mundo de forma </a:t>
            </a:r>
            <a:r>
              <a:rPr lang="es-CO" sz="2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inteligente, personalizada y social</a:t>
            </a:r>
          </a:p>
        </p:txBody>
      </p:sp>
      <p:sp>
        <p:nvSpPr>
          <p:cNvPr id="6" name="Text 4"/>
          <p:cNvSpPr/>
          <p:nvPr/>
        </p:nvSpPr>
        <p:spPr>
          <a:xfrm>
            <a:off x="386408" y="1975138"/>
            <a:ext cx="8322425" cy="90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4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 revoluciona el turismo mediante inteligencia artificial, recomendaciones personalizadas y una comunidad global de viajeros. 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4EA2A4C-2A82-83DD-88DA-EE5F027008BF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rPr>
              <a:t>01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98C28D-D792-33CF-C1C9-335E56E936A1}"/>
              </a:ext>
            </a:extLst>
          </p:cNvPr>
          <p:cNvGrpSpPr/>
          <p:nvPr/>
        </p:nvGrpSpPr>
        <p:grpSpPr>
          <a:xfrm>
            <a:off x="385850" y="2906474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9AB1F61-B945-7CF5-2DE0-F769344AD778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EAB409D-2D64-6A2C-6948-FFA2DA342D2D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IA Personalizada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Recomendaciones únicas basadas en tus preferencias y estilo de viaje.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53E664B-6D18-C754-1E04-416111D9059B}"/>
              </a:ext>
            </a:extLst>
          </p:cNvPr>
          <p:cNvGrpSpPr/>
          <p:nvPr/>
        </p:nvGrpSpPr>
        <p:grpSpPr>
          <a:xfrm>
            <a:off x="3213030" y="2906474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6613029-6D4F-780D-9ADA-8A349D890BC0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2E8622A-D858-3452-88C6-EB358EB93870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Destinos Inteligentes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Descubre lugares ocultos y experiencias adaptadas a ti.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D3EE69-62B8-A423-A592-74BEB3FA5C4B}"/>
              </a:ext>
            </a:extLst>
          </p:cNvPr>
          <p:cNvGrpSpPr/>
          <p:nvPr/>
        </p:nvGrpSpPr>
        <p:grpSpPr>
          <a:xfrm>
            <a:off x="6020360" y="2906474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8D490D6-30B8-D613-797A-F0BE7DEE1491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7D8C113-9E2E-C123-DC04-038FF4814070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Comunidad Global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Conecta con viajeros afines y comparte aventuras inolvidables.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C6977D57-3C94-8D7B-D51C-C8617C768E91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02A486F-88D6-60D5-96D4-463BE5DCD4A2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9F22-D0CB-0714-5E12-15AE39FD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2A7AA18-0D58-FFAB-EADD-11FA4886870F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34377C9-2B11-A859-8340-BBB65FDDAEE4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rPr>
              <a:t>02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86FE0E-565B-E353-FA42-CF645986731C}"/>
              </a:ext>
            </a:extLst>
          </p:cNvPr>
          <p:cNvGrpSpPr/>
          <p:nvPr/>
        </p:nvGrpSpPr>
        <p:grpSpPr>
          <a:xfrm>
            <a:off x="385850" y="1962193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6155B60-109A-B1AD-2951-9A058A26E66C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B889B42-D86B-BF1B-B5C5-BDBD71EF8FEA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MRR mes 12 $7.5M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base, hasta </a:t>
              </a: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$22.5M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upsells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0891B3-32C5-BBE9-1685-19F8CCFB6D9C}"/>
              </a:ext>
            </a:extLst>
          </p:cNvPr>
          <p:cNvGrpSpPr/>
          <p:nvPr/>
        </p:nvGrpSpPr>
        <p:grpSpPr>
          <a:xfrm>
            <a:off x="3213030" y="1962193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0D3CC39-5BAC-7D9A-D663-CFE55B850052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14088DA-CF0C-80E5-533A-1D53A5AEE81A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 err="1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Insights</a:t>
              </a: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mercado 8–12M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usuarios en Colombia con </a:t>
              </a: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demanda digital &gt;60%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y crecimiento de alojamientos.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CF2E08-9BD9-FA8F-57F7-72F8BB0A13E8}"/>
              </a:ext>
            </a:extLst>
          </p:cNvPr>
          <p:cNvGrpSpPr/>
          <p:nvPr/>
        </p:nvGrpSpPr>
        <p:grpSpPr>
          <a:xfrm>
            <a:off x="6020360" y="1962193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98936E9-0003-D3FA-D8D4-BEF6F9A24A0A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AC4CAEB-43A6-BC83-CE6F-421140BA7FAA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21.7M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visitantes 2025.</a:t>
              </a:r>
            </a:p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+19.9% crecimiento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e-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commerce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YoY.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827BDEB2-63E4-4844-16F2-F9683752CC8B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055909F-E38E-D34F-6561-7D427B664391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85842571-5E2F-44A6-F165-D1A50965DEE4}"/>
              </a:ext>
            </a:extLst>
          </p:cNvPr>
          <p:cNvSpPr/>
          <p:nvPr/>
        </p:nvSpPr>
        <p:spPr>
          <a:xfrm>
            <a:off x="1629294" y="3465340"/>
            <a:ext cx="5885411" cy="60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684M transacciones </a:t>
            </a:r>
            <a:r>
              <a:rPr lang="es-CO" sz="14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e-</a:t>
            </a:r>
            <a:r>
              <a:rPr lang="es-CO" sz="14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commerce</a:t>
            </a:r>
            <a:r>
              <a:rPr lang="es-CO" sz="14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 | </a:t>
            </a:r>
            <a:r>
              <a:rPr lang="es-CO" sz="1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CAGR 6.4% </a:t>
            </a:r>
            <a:r>
              <a:rPr lang="es-CO" sz="14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aéreo internacional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2EF8E77-65AD-A7B4-6E6A-E0B27DB548D2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Existe una </a:t>
            </a:r>
            <a:r>
              <a:rPr lang="es-CO" sz="2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oportunidad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A36A8-D0DB-9C52-FB54-95393A14E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8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6531-3C1E-14B2-8940-093363AA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0C90090-D865-398B-27BF-A67D86213C14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0A1227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FDCC720-0F00-42D8-E51D-F537529A53B9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DD13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03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572F4E-8770-5931-B299-47D3D3D55A29}"/>
              </a:ext>
            </a:extLst>
          </p:cNvPr>
          <p:cNvGrpSpPr/>
          <p:nvPr/>
        </p:nvGrpSpPr>
        <p:grpSpPr>
          <a:xfrm>
            <a:off x="385850" y="1962193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F29742-AF68-8B3D-86C6-1E1CA9851225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FA867D3-37CE-C376-0D46-7F67E5450B86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Entre </a:t>
              </a: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30 y 40%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 usuarios se sienten </a:t>
              </a: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solitarios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y no cuentan con una solución integrada.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2CA656-2394-F532-DBA1-D0E3FC6736B6}"/>
              </a:ext>
            </a:extLst>
          </p:cNvPr>
          <p:cNvGrpSpPr/>
          <p:nvPr/>
        </p:nvGrpSpPr>
        <p:grpSpPr>
          <a:xfrm>
            <a:off x="3213030" y="1962193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C38A812-F5A0-F038-D97B-B2C06C99CBA4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701C3D5-3D9E-C112-1D63-6254F9871D14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Fragmentación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donde el usuario promedio visita entre </a:t>
              </a: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4 y 6 plataformas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por viaje.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793FF9B-13AA-8C00-CA5D-1E7B6AFD407D}"/>
              </a:ext>
            </a:extLst>
          </p:cNvPr>
          <p:cNvGrpSpPr/>
          <p:nvPr/>
        </p:nvGrpSpPr>
        <p:grpSpPr>
          <a:xfrm>
            <a:off x="6020360" y="1962193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53CF3DE-7264-341A-7AD3-DF1BB21124E1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392ECBD-69B6-9FD1-B9A6-C24C109B2ADA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Operadores locales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donde 30.5% están en vulnerabilidad y </a:t>
              </a:r>
              <a:r>
                <a:rPr lang="es-CO" sz="1400" b="1" noProof="0" dirty="0" err="1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OTAs</a:t>
              </a: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cobran 20-30%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 comisión.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784594EE-0668-80ED-FD1E-28B42285B603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75DE405-0C90-02EC-3868-BB98FFB8961E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DD9B907-25A2-9F55-6BA5-F2115E73F1F9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El </a:t>
            </a:r>
            <a:r>
              <a:rPr lang="es-CO" sz="2400" b="1" noProof="0" dirty="0">
                <a:solidFill>
                  <a:srgbClr val="DD13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Problema</a:t>
            </a:r>
            <a:r>
              <a:rPr lang="es-CO" sz="2400" b="1" noProof="0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del Turismo Actual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F887DE-0A15-A621-6656-726BE9A18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91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4A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A2785-36B6-7761-5935-F2D5F218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AB131D3-C966-8F5E-FC03-B4B10C0F8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777240" cy="77724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C595D8C7-B978-906B-C6E6-B2B1EA20673E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FFD7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D3EBFB0-0E35-15A9-EC2E-EA968ED79750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04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9B325143-964A-5ACF-586F-A4D8D8605CF7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2B4AD48-457D-4177-CC12-5AB0573FAEDD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39883ED5-F2A6-9ADF-0D47-BE3E645C0340}"/>
              </a:ext>
            </a:extLst>
          </p:cNvPr>
          <p:cNvSpPr/>
          <p:nvPr/>
        </p:nvSpPr>
        <p:spPr>
          <a:xfrm>
            <a:off x="386408" y="1671147"/>
            <a:ext cx="8322425" cy="58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4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 integra tres pilares fundamentales para transformar tu experiencia de viaje.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1282F35-0331-1626-4F18-7C29FDA28F71}"/>
              </a:ext>
            </a:extLst>
          </p:cNvPr>
          <p:cNvGrpSpPr/>
          <p:nvPr/>
        </p:nvGrpSpPr>
        <p:grpSpPr>
          <a:xfrm>
            <a:off x="385850" y="2328764"/>
            <a:ext cx="2625189" cy="1143416"/>
            <a:chOff x="914400" y="3066842"/>
            <a:chExt cx="2606040" cy="114341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4D42A77-1B6F-CDFA-80C3-6805BA45554C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5FF40DB-9C0A-A300-58DE-5942755F954C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IA Avanzada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Algoritmos que aprenden de tus preferencias y comportamiento para sugerencias perfectas.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093F2A2-1759-0941-5A09-FF1EAA21CE89}"/>
              </a:ext>
            </a:extLst>
          </p:cNvPr>
          <p:cNvGrpSpPr/>
          <p:nvPr/>
        </p:nvGrpSpPr>
        <p:grpSpPr>
          <a:xfrm>
            <a:off x="3213030" y="2328764"/>
            <a:ext cx="2600629" cy="1143416"/>
            <a:chOff x="914400" y="3066842"/>
            <a:chExt cx="2606040" cy="114341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0903F04-74B7-B169-416D-CE2EB1D6165A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F5BAC47-84C3-AB7E-1586-2356E41BB28F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Experiencias Híbridas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Combina exploración digital con experiencias físicas únicas y memorables.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51368A-3ADE-7113-08FF-05AF887DFFDF}"/>
              </a:ext>
            </a:extLst>
          </p:cNvPr>
          <p:cNvGrpSpPr/>
          <p:nvPr/>
        </p:nvGrpSpPr>
        <p:grpSpPr>
          <a:xfrm>
            <a:off x="6020360" y="2328764"/>
            <a:ext cx="2600629" cy="1143416"/>
            <a:chOff x="914400" y="3066842"/>
            <a:chExt cx="2606040" cy="11434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C8D5CB0-22A9-58A4-F85B-C5303176CF99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427319B-AE81-5BD4-77CF-5BC625A31AF8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Matching Inteligente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Conecta con viajeros compatibles mediante análisis de perfiles y preferencias.</a:t>
              </a:r>
            </a:p>
          </p:txBody>
        </p:sp>
      </p:grpSp>
      <p:sp>
        <p:nvSpPr>
          <p:cNvPr id="14" name="Text 2">
            <a:extLst>
              <a:ext uri="{FF2B5EF4-FFF2-40B4-BE49-F238E27FC236}">
                <a16:creationId xmlns:a16="http://schemas.microsoft.com/office/drawing/2014/main" id="{1C0B892F-91D9-D8A2-9CBE-B015B834B413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Nuestra</a:t>
            </a:r>
            <a:r>
              <a:rPr lang="es-CO" sz="2400" b="1" noProof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2400" b="1" noProof="0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Solución</a:t>
            </a:r>
          </a:p>
        </p:txBody>
      </p:sp>
    </p:spTree>
    <p:extLst>
      <p:ext uri="{BB962C8B-B14F-4D97-AF65-F5344CB8AC3E}">
        <p14:creationId xmlns:p14="http://schemas.microsoft.com/office/powerpoint/2010/main" val="52525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C91B-DC35-C87D-69EB-FA4C1843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63DE123-3762-325C-2755-2BF7BD0E5C2B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Nuestra </a:t>
            </a:r>
            <a:r>
              <a:rPr lang="es-CO" sz="2400" b="1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Ventaja Competitiva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25D5BE3-9B7D-6AD6-1371-10F076D9912D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05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066B016-D3F4-C5E4-9FBC-5C82160105E4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476751C-FD6D-C9F3-04D8-67ED358E342A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B27BC9-5417-B209-18FA-882942C4E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257557"/>
              </p:ext>
            </p:extLst>
          </p:nvPr>
        </p:nvGraphicFramePr>
        <p:xfrm>
          <a:off x="386409" y="2090016"/>
          <a:ext cx="7841113" cy="1574315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62001">
                  <a:extLst>
                    <a:ext uri="{9D8B030D-6E8A-4147-A177-3AD203B41FA5}">
                      <a16:colId xmlns:a16="http://schemas.microsoft.com/office/drawing/2014/main" val="519890110"/>
                    </a:ext>
                  </a:extLst>
                </a:gridCol>
                <a:gridCol w="1469778">
                  <a:extLst>
                    <a:ext uri="{9D8B030D-6E8A-4147-A177-3AD203B41FA5}">
                      <a16:colId xmlns:a16="http://schemas.microsoft.com/office/drawing/2014/main" val="568139611"/>
                    </a:ext>
                  </a:extLst>
                </a:gridCol>
                <a:gridCol w="1469778">
                  <a:extLst>
                    <a:ext uri="{9D8B030D-6E8A-4147-A177-3AD203B41FA5}">
                      <a16:colId xmlns:a16="http://schemas.microsoft.com/office/drawing/2014/main" val="1481259754"/>
                    </a:ext>
                  </a:extLst>
                </a:gridCol>
                <a:gridCol w="1469778">
                  <a:extLst>
                    <a:ext uri="{9D8B030D-6E8A-4147-A177-3AD203B41FA5}">
                      <a16:colId xmlns:a16="http://schemas.microsoft.com/office/drawing/2014/main" val="968736282"/>
                    </a:ext>
                  </a:extLst>
                </a:gridCol>
                <a:gridCol w="1469778">
                  <a:extLst>
                    <a:ext uri="{9D8B030D-6E8A-4147-A177-3AD203B41FA5}">
                      <a16:colId xmlns:a16="http://schemas.microsoft.com/office/drawing/2014/main" val="690347990"/>
                    </a:ext>
                  </a:extLst>
                </a:gridCol>
              </a:tblGrid>
              <a:tr h="31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b="0" noProof="0" dirty="0">
                          <a:solidFill>
                            <a:srgbClr val="0A2342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  <a:cs typeface="Trebuchet MS" pitchFamily="34" charset="-120"/>
                        </a:rPr>
                        <a:t>Personalización IA</a:t>
                      </a:r>
                      <a:endParaRPr lang="es-CO" sz="1100" b="0" noProof="0" dirty="0">
                        <a:solidFill>
                          <a:srgbClr val="0A2342"/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noProof="0" dirty="0">
                          <a:solidFill>
                            <a:srgbClr val="00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444045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 dirty="0">
                          <a:solidFill>
                            <a:srgbClr val="0A2342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  <a:cs typeface="Trebuchet MS" pitchFamily="34" charset="-120"/>
                        </a:rPr>
                        <a:t>Matching Social</a:t>
                      </a:r>
                      <a:endParaRPr lang="es-CO" sz="1100" noProof="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noProof="0" dirty="0">
                          <a:solidFill>
                            <a:srgbClr val="00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s-CO" sz="1200" noProof="0" dirty="0">
                        <a:solidFill>
                          <a:srgbClr val="00B4A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s-CO" sz="1200" noProof="0" dirty="0">
                        <a:solidFill>
                          <a:srgbClr val="00B4A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0B4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s-CO" sz="1200" noProof="0" dirty="0">
                        <a:solidFill>
                          <a:srgbClr val="00B4A6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22128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 dirty="0">
                          <a:solidFill>
                            <a:srgbClr val="0A2342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  <a:cs typeface="Trebuchet MS" pitchFamily="34" charset="-120"/>
                        </a:rPr>
                        <a:t>Reservas Integradas</a:t>
                      </a:r>
                      <a:endParaRPr lang="es-CO" sz="1100" noProof="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noProof="0" dirty="0">
                          <a:solidFill>
                            <a:srgbClr val="00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85136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 dirty="0">
                          <a:solidFill>
                            <a:srgbClr val="0A2342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  <a:cs typeface="Trebuchet MS" pitchFamily="34" charset="-120"/>
                        </a:rPr>
                        <a:t>Destinos Emergentes</a:t>
                      </a:r>
                      <a:endParaRPr lang="es-CO" sz="1100" noProof="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noProof="0" dirty="0">
                          <a:solidFill>
                            <a:srgbClr val="00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5707"/>
                  </a:ext>
                </a:extLst>
              </a:tr>
              <a:tr h="3148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100" noProof="0" dirty="0">
                          <a:solidFill>
                            <a:srgbClr val="0A2342"/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  <a:cs typeface="Trebuchet MS" pitchFamily="34" charset="-120"/>
                        </a:rPr>
                        <a:t>Foco Local Colombia</a:t>
                      </a:r>
                      <a:endParaRPr lang="es-CO" sz="1100" noProof="0" dirty="0"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noProof="0" dirty="0">
                          <a:solidFill>
                            <a:srgbClr val="008C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noProof="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s-CO" sz="1200" noProof="0" dirty="0"/>
                    </a:p>
                  </a:txBody>
                  <a:tcPr anchor="ctr">
                    <a:lnL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F7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81728"/>
                  </a:ext>
                </a:extLst>
              </a:tr>
            </a:tbl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9A4210F9-790A-5516-48F9-830E22262C27}"/>
              </a:ext>
            </a:extLst>
          </p:cNvPr>
          <p:cNvSpPr/>
          <p:nvPr/>
        </p:nvSpPr>
        <p:spPr>
          <a:xfrm>
            <a:off x="1629294" y="3657598"/>
            <a:ext cx="5885411" cy="60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400" b="1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Únicos</a:t>
            </a:r>
            <a:r>
              <a:rPr lang="es-CO" sz="1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CO" sz="14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en el mercado con IA + Social + Personalización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8B9C806-CEA7-0443-6666-B0335E3E2A04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5E55C5-8B3D-387F-5165-977B541B5359}"/>
              </a:ext>
            </a:extLst>
          </p:cNvPr>
          <p:cNvSpPr/>
          <p:nvPr/>
        </p:nvSpPr>
        <p:spPr>
          <a:xfrm>
            <a:off x="2357572" y="1671536"/>
            <a:ext cx="1450047" cy="398417"/>
          </a:xfrm>
          <a:prstGeom prst="rect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0A2342"/>
                </a:solidFill>
                <a:latin typeface="Inter" panose="02000503000000020004" pitchFamily="2" charset="0"/>
                <a:ea typeface="Inter" panose="02000503000000020004" pitchFamily="2" charset="0"/>
                <a:cs typeface="Trebuchet MS" pitchFamily="34" charset="-120"/>
              </a:rPr>
              <a:t>SmarTrip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1CB512-BBC2-0D66-9900-81A4C3D36F86}"/>
              </a:ext>
            </a:extLst>
          </p:cNvPr>
          <p:cNvSpPr/>
          <p:nvPr/>
        </p:nvSpPr>
        <p:spPr>
          <a:xfrm>
            <a:off x="3827925" y="1669155"/>
            <a:ext cx="1450047" cy="398417"/>
          </a:xfrm>
          <a:prstGeom prst="rect">
            <a:avLst/>
          </a:prstGeom>
          <a:solidFill>
            <a:srgbClr val="8FA3BA"/>
          </a:solidFill>
          <a:ln>
            <a:solidFill>
              <a:srgbClr val="8FA3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Trebuchet MS" pitchFamily="34" charset="-120"/>
              </a:rPr>
              <a:t>Booking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81705-4A31-7ABB-C8B7-93981FAFE821}"/>
              </a:ext>
            </a:extLst>
          </p:cNvPr>
          <p:cNvSpPr/>
          <p:nvPr/>
        </p:nvSpPr>
        <p:spPr>
          <a:xfrm>
            <a:off x="5298278" y="1669154"/>
            <a:ext cx="1450047" cy="398417"/>
          </a:xfrm>
          <a:prstGeom prst="rect">
            <a:avLst/>
          </a:prstGeom>
          <a:solidFill>
            <a:srgbClr val="8FA3BA"/>
          </a:solidFill>
          <a:ln>
            <a:solidFill>
              <a:srgbClr val="8FA3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Trebuchet MS" pitchFamily="34" charset="-120"/>
              </a:rPr>
              <a:t>Airbnb</a:t>
            </a:r>
            <a:endParaRPr lang="en-US" sz="1200" dirty="0"/>
          </a:p>
        </p:txBody>
      </p:sp>
      <p:sp>
        <p:nvSpPr>
          <p:cNvPr id="31" name="Rectangle: Single Corner Rounded 30">
            <a:extLst>
              <a:ext uri="{FF2B5EF4-FFF2-40B4-BE49-F238E27FC236}">
                <a16:creationId xmlns:a16="http://schemas.microsoft.com/office/drawing/2014/main" id="{F37A9CC5-E117-33F9-D0FF-30A22B7A9FEC}"/>
              </a:ext>
            </a:extLst>
          </p:cNvPr>
          <p:cNvSpPr/>
          <p:nvPr/>
        </p:nvSpPr>
        <p:spPr>
          <a:xfrm>
            <a:off x="6767950" y="1669153"/>
            <a:ext cx="1450047" cy="398417"/>
          </a:xfrm>
          <a:prstGeom prst="round1Rect">
            <a:avLst>
              <a:gd name="adj" fmla="val 30874"/>
            </a:avLst>
          </a:prstGeom>
          <a:solidFill>
            <a:srgbClr val="8FA3BA"/>
          </a:solidFill>
          <a:ln>
            <a:solidFill>
              <a:srgbClr val="8FA3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Trebuchet MS" pitchFamily="34" charset="-120"/>
              </a:rPr>
              <a:t>Despegar</a:t>
            </a:r>
            <a:endParaRPr lang="en-US" sz="1200" dirty="0"/>
          </a:p>
        </p:txBody>
      </p:sp>
      <p:sp>
        <p:nvSpPr>
          <p:cNvPr id="34" name="Rectangle: Single Corner Rounded 33">
            <a:extLst>
              <a:ext uri="{FF2B5EF4-FFF2-40B4-BE49-F238E27FC236}">
                <a16:creationId xmlns:a16="http://schemas.microsoft.com/office/drawing/2014/main" id="{8196547A-A921-B356-C65D-14ED143A60E2}"/>
              </a:ext>
            </a:extLst>
          </p:cNvPr>
          <p:cNvSpPr/>
          <p:nvPr/>
        </p:nvSpPr>
        <p:spPr>
          <a:xfrm flipH="1">
            <a:off x="392758" y="1671536"/>
            <a:ext cx="1944507" cy="398417"/>
          </a:xfrm>
          <a:prstGeom prst="round1Rect">
            <a:avLst>
              <a:gd name="adj" fmla="val 34062"/>
            </a:avLst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Trebuchet MS" pitchFamily="34" charset="-120"/>
              </a:rPr>
              <a:t>Capacidad</a:t>
            </a:r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83EB49-344C-2B15-2132-D3BC14E7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5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EC6A-5F3D-C098-C46D-6DE79A40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B64DBA3-F54B-45EF-4C7C-84368CAC7596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C24E679-DDBF-5669-03BA-856662BE43B1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rPr>
              <a:t>06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646E896-41BF-8B15-D627-134E1D9ADF01}"/>
              </a:ext>
            </a:extLst>
          </p:cNvPr>
          <p:cNvGrpSpPr/>
          <p:nvPr/>
        </p:nvGrpSpPr>
        <p:grpSpPr>
          <a:xfrm>
            <a:off x="385850" y="1962193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9D1A445-67CC-D1C7-3DC5-BFD51167CA64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B204E9E-427E-F7E0-C095-3E7AA5A91F70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Comisiones</a:t>
              </a:r>
              <a:endParaRPr lang="es-CO" sz="1100" b="1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>
                <a:spcAft>
                  <a:spcPts val="400"/>
                </a:spcAft>
              </a:pP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take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rate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5,5 % sobre el valor de la reserva (motor de volumen).</a:t>
              </a:r>
              <a:endPara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B633111-DE6B-50FD-4F35-481EC112F331}"/>
              </a:ext>
            </a:extLst>
          </p:cNvPr>
          <p:cNvGrpSpPr/>
          <p:nvPr/>
        </p:nvGrpSpPr>
        <p:grpSpPr>
          <a:xfrm>
            <a:off x="3213030" y="1962193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F6184A5-2256-71FD-03DF-994EE249728F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04E0015-5862-08B1-BC45-983697C5EBBC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Premium</a:t>
              </a:r>
            </a:p>
            <a:p>
              <a:pPr>
                <a:spcAft>
                  <a:spcPts val="400"/>
                </a:spcAft>
              </a:pPr>
              <a:r>
                <a:rPr lang="es-CO" sz="11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B2C: 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$32.900 COP/mes </a:t>
              </a:r>
            </a:p>
            <a:p>
              <a:pPr>
                <a:spcAft>
                  <a:spcPts val="400"/>
                </a:spcAft>
              </a:pPr>
              <a:r>
                <a:rPr lang="es-CO" sz="11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B2B Operador: 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$700K COP/mes.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7D0E40-6279-25F0-20CC-5FDA8F8E3DD8}"/>
              </a:ext>
            </a:extLst>
          </p:cNvPr>
          <p:cNvGrpSpPr/>
          <p:nvPr/>
        </p:nvGrpSpPr>
        <p:grpSpPr>
          <a:xfrm>
            <a:off x="6020360" y="1962193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F965384-56ED-2FC3-EB52-4103FA4726A7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2860AFD-E7A6-F8F2-EA69-EC0E385AE2D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IA </a:t>
              </a:r>
              <a:r>
                <a:rPr lang="es-CO" sz="1400" b="1" noProof="0" dirty="0" err="1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Overage</a:t>
              </a:r>
              <a:endParaRPr lang="es-CO" sz="1400" b="1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Límites de uso razonables en free/premium y política de uso justo para proteger margen.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FD9874EE-DFF9-F8D2-5D5B-19532947A586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65F5908C-8798-432C-0576-BDA6B1BB4326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4599C1D-424C-89FB-8D83-954A9449DD10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Modelo de </a:t>
            </a:r>
            <a:r>
              <a:rPr lang="es-CO" sz="2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Negocio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999D7C-FC3F-8909-C08B-AF16B5711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43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CF10-9975-5822-54DA-FBEF38E0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9410861-61EA-B710-9290-FE32E989C3F1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A7E611C-3A5A-3B01-6915-C7D573F447C0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rPr>
              <a:t>07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7914DB-BB31-2A57-F516-4E22697E4693}"/>
              </a:ext>
            </a:extLst>
          </p:cNvPr>
          <p:cNvGrpSpPr/>
          <p:nvPr/>
        </p:nvGrpSpPr>
        <p:grpSpPr>
          <a:xfrm>
            <a:off x="385850" y="1773786"/>
            <a:ext cx="3934226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F3CD593-1D5B-54DD-989F-5840FA2996EE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A1225BF-CA0B-BB30-D688-F5B1AAFBDD52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Usuario Free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Contribución positiva con uso acotado; foco en adquisición y conversión.</a:t>
              </a:r>
              <a:endPara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0C0703-CF36-B268-F75D-F4F0DBE01740}"/>
              </a:ext>
            </a:extLst>
          </p:cNvPr>
          <p:cNvGrpSpPr/>
          <p:nvPr/>
        </p:nvGrpSpPr>
        <p:grpSpPr>
          <a:xfrm>
            <a:off x="385850" y="3060995"/>
            <a:ext cx="3934226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8F4B00D-6888-FD31-2EC5-3597FDADA63C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D1FB953-CDE6-5387-2C61-4FA72E0B010E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Usuario Premium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Mayor ARPU y mejor margen de contribución vs. free.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C5713404-6920-8680-447C-3B954B424A9F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9F11BCB-A719-19B4-4790-E0BF44B96765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59071A-0FC7-E811-BDEB-737C19BD534C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Economía Unitaria </a:t>
            </a:r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del Modelo</a:t>
            </a:r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F9CA8E-18CA-AA28-6756-E0764D272716}"/>
              </a:ext>
            </a:extLst>
          </p:cNvPr>
          <p:cNvGrpSpPr/>
          <p:nvPr/>
        </p:nvGrpSpPr>
        <p:grpSpPr>
          <a:xfrm>
            <a:off x="4686763" y="1823323"/>
            <a:ext cx="3934226" cy="1143416"/>
            <a:chOff x="914400" y="3066842"/>
            <a:chExt cx="2606040" cy="114341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342A632-6D84-B9EA-E1F7-556D20B2A672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AAB51A2-7076-AD00-49D0-83616C6E8152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SzPct val="100000"/>
              </a:pPr>
              <a:r>
                <a:rPr lang="es-CO" sz="1400" b="1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CAC Objetivo</a:t>
              </a:r>
            </a:p>
            <a:p>
              <a:pPr>
                <a:buSzPct val="100000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$15.000 COP por usuario (canal digital); revisar LTV por cohorte.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90E35B-5400-DCA1-14AD-CBF6EE57D4F9}"/>
              </a:ext>
            </a:extLst>
          </p:cNvPr>
          <p:cNvGrpSpPr/>
          <p:nvPr/>
        </p:nvGrpSpPr>
        <p:grpSpPr>
          <a:xfrm>
            <a:off x="4686763" y="3060995"/>
            <a:ext cx="3934226" cy="1143416"/>
            <a:chOff x="914400" y="3066842"/>
            <a:chExt cx="2606040" cy="11434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E8ACED4-F7DE-4EAE-C5AE-CF1118A7D34D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DA867EC-D72E-D9D8-4EC6-5481D13AEC99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SzPct val="100000"/>
              </a:pPr>
              <a:r>
                <a:rPr lang="es-ES" sz="1400" b="1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Equilibrio operativo</a:t>
              </a:r>
            </a:p>
            <a:p>
              <a:pPr>
                <a:buSzPct val="100000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No se resume en un solo mes; depende de tracción + disciplina de OPEX + B2B. Ver proyección año 1–3 en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slide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de finanzas.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331BAF6-1C26-149B-82EB-ECF46A2CF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3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4A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AB195-7091-4C8C-265F-7781DBEA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9FD2752-6F3F-1B30-8662-04951B09D41B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FFD7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9E3A918-3230-D838-A17E-951C3DB3EBFE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08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E68FBCF-3A82-4834-2E40-E004102AAB16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DDD809F4-6842-BCA8-6308-364AF72FF2BF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DC7E9C-62AA-7BA2-95BA-AE6637B11DDD}"/>
              </a:ext>
            </a:extLst>
          </p:cNvPr>
          <p:cNvGrpSpPr/>
          <p:nvPr/>
        </p:nvGrpSpPr>
        <p:grpSpPr>
          <a:xfrm>
            <a:off x="386409" y="1772038"/>
            <a:ext cx="3988029" cy="1489322"/>
            <a:chOff x="914400" y="3066842"/>
            <a:chExt cx="2606040" cy="114341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518570D-F3FD-9F67-7998-ACDB4DBAF119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928D861-63B8-156C-C8DB-E438A7ABC68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CAPEX (Inversión Inicial)</a:t>
              </a:r>
            </a:p>
            <a:p>
              <a:pPr>
                <a:spcAft>
                  <a:spcPts val="400"/>
                </a:spcAft>
              </a:pPr>
              <a:r>
                <a:rPr lang="es-ES" sz="1100" b="1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$218.087.168 COP </a:t>
              </a:r>
              <a:r>
                <a:rPr lang="es-ES" sz="110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(MVP, legal, diseño, marketing de lanzamiento, según modelo).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1E41E7-3F70-B9E2-BA46-F1082F5803E4}"/>
              </a:ext>
            </a:extLst>
          </p:cNvPr>
          <p:cNvGrpSpPr/>
          <p:nvPr/>
        </p:nvGrpSpPr>
        <p:grpSpPr>
          <a:xfrm>
            <a:off x="4632960" y="1772038"/>
            <a:ext cx="3988029" cy="1489322"/>
            <a:chOff x="914400" y="3066842"/>
            <a:chExt cx="2606040" cy="114341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6066B14-DF9B-CE96-9277-B5E993C9E707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261B10D-7A70-83F9-50F0-F267B15C0BD7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OPEX (Costos Operativos)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Orden de magnitud </a:t>
              </a:r>
              <a:r>
                <a:rPr lang="es-ES" sz="1100" b="1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~$29,6M </a:t>
              </a:r>
              <a:r>
                <a:rPr lang="es-ES" sz="110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COP/mes (talento + </a:t>
              </a:r>
              <a:r>
                <a:rPr lang="es-ES" sz="110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cloud</a:t>
              </a:r>
              <a:r>
                <a:rPr lang="es-ES" sz="110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/GPU base + marketing base + </a:t>
              </a:r>
              <a:r>
                <a:rPr lang="es-ES" sz="110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APIs</a:t>
              </a:r>
              <a:r>
                <a:rPr lang="es-ES" sz="110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fijas integradas; CAC por aparte según mes).</a:t>
              </a:r>
              <a:endParaRPr lang="es-CO" sz="11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sp>
        <p:nvSpPr>
          <p:cNvPr id="14" name="Text 2">
            <a:extLst>
              <a:ext uri="{FF2B5EF4-FFF2-40B4-BE49-F238E27FC236}">
                <a16:creationId xmlns:a16="http://schemas.microsoft.com/office/drawing/2014/main" id="{4E279900-24A0-4DCF-7015-6EC037419A78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Proyecciones </a:t>
            </a:r>
            <a:r>
              <a:rPr lang="es-CO" sz="2400" b="1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Financieras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2CDB395-D8BB-62ED-E5AA-0B913BF4148E}"/>
              </a:ext>
            </a:extLst>
          </p:cNvPr>
          <p:cNvSpPr/>
          <p:nvPr/>
        </p:nvSpPr>
        <p:spPr>
          <a:xfrm>
            <a:off x="683856" y="3490245"/>
            <a:ext cx="7849675" cy="60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ES" sz="1600" b="1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Año 1 </a:t>
            </a:r>
            <a:r>
              <a:rPr lang="es-ES" sz="16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validación y presión EBITDA; </a:t>
            </a:r>
            <a:r>
              <a:rPr lang="es-ES" sz="1600" b="1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Año 2 </a:t>
            </a:r>
            <a:r>
              <a:rPr lang="es-ES" sz="16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convergencia; </a:t>
            </a:r>
            <a:r>
              <a:rPr lang="es-ES" sz="1600" b="1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Año 3 </a:t>
            </a:r>
            <a:r>
              <a:rPr lang="es-ES" sz="16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utilidad neta positiva.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C7A28C-E114-30C5-FB96-F8792BBBB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77724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2565F-8895-FBA7-96AF-2D90F3A0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7EE1FFC-815F-7117-C5CC-8271FA38417F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16F75C6-D76A-060D-9951-17654733890A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09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B08204E-2331-059D-B289-647DF4FFA722}"/>
              </a:ext>
            </a:extLst>
          </p:cNvPr>
          <p:cNvGrpSpPr/>
          <p:nvPr/>
        </p:nvGrpSpPr>
        <p:grpSpPr>
          <a:xfrm>
            <a:off x="575667" y="3225400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0CD652A-F326-AAEE-08BB-3396651FECF6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F4A0CA5-1CF5-29DA-45E8-56D793271F2D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01 . Producto</a:t>
              </a:r>
            </a:p>
            <a:p>
              <a:pPr>
                <a:spcAft>
                  <a:spcPts val="400"/>
                </a:spcAft>
              </a:pP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Única AI + Match + Transacción integrada.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D77937-DC88-156D-57FA-0ED7E0410F34}"/>
              </a:ext>
            </a:extLst>
          </p:cNvPr>
          <p:cNvGrpSpPr/>
          <p:nvPr/>
        </p:nvGrpSpPr>
        <p:grpSpPr>
          <a:xfrm>
            <a:off x="4137186" y="3271205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5A7E66F-BFE8-DACA-1784-10A3863E69D5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60D7D8D-6494-8C5A-5BAC-D779632893B9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03 · Operacional</a:t>
              </a:r>
            </a:p>
            <a:p>
              <a:pPr>
                <a:spcAft>
                  <a:spcPts val="400"/>
                </a:spcAft>
              </a:pP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Relaciones MinCIT, FONTUR, operadores locales. Especialización en destinos.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1F6E35AF-8967-5634-7BCF-6421743CD68F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6AEB96D-B242-AF19-E070-D04E3282C881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F4BECA5-8ECC-8731-A022-6C3FE95668DB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Capas de </a:t>
            </a:r>
            <a:r>
              <a:rPr lang="es-CO" sz="2400" b="1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Moat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1ABD29-1CD8-0885-6352-D1DA96590D22}"/>
              </a:ext>
            </a:extLst>
          </p:cNvPr>
          <p:cNvGrpSpPr/>
          <p:nvPr/>
        </p:nvGrpSpPr>
        <p:grpSpPr>
          <a:xfrm>
            <a:off x="2203822" y="1711328"/>
            <a:ext cx="2625189" cy="1143416"/>
            <a:chOff x="914400" y="3066842"/>
            <a:chExt cx="2606040" cy="114341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2EB7268-3F2B-8842-03A3-65AE3857711D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7DE7F4-203A-B5E5-A809-DA0A8479034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02. Efecto de Red</a:t>
              </a:r>
            </a:p>
            <a:p>
              <a:pPr>
                <a:spcAft>
                  <a:spcPts val="400"/>
                </a:spcAft>
              </a:pP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Cada usuario nuevo aumenta valor para todos. </a:t>
              </a:r>
              <a:endPara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447A2F-224B-8E23-462F-C405896027F2}"/>
              </a:ext>
            </a:extLst>
          </p:cNvPr>
          <p:cNvGrpSpPr/>
          <p:nvPr/>
        </p:nvGrpSpPr>
        <p:grpSpPr>
          <a:xfrm>
            <a:off x="5765341" y="1757133"/>
            <a:ext cx="2600629" cy="1143416"/>
            <a:chOff x="914400" y="3066842"/>
            <a:chExt cx="2606040" cy="114341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12ED331-3714-183A-076B-C3BC9E2D2454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01F157A-C607-5D88-CB1E-40247333AE02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04 · Datos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Modelo </a:t>
              </a: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 </a:t>
              </a:r>
              <a:r>
                <a:rPr lang="es-ES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matching</a:t>
              </a: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más preciso. </a:t>
              </a:r>
              <a:r>
                <a:rPr lang="es-ES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Feedback</a:t>
              </a: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ES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loop</a:t>
              </a: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1082A17A-0B24-AA5C-9058-B7FDE8124C04}"/>
              </a:ext>
            </a:extLst>
          </p:cNvPr>
          <p:cNvSpPr/>
          <p:nvPr/>
        </p:nvSpPr>
        <p:spPr>
          <a:xfrm>
            <a:off x="1810557" y="3015209"/>
            <a:ext cx="91440" cy="91440"/>
          </a:xfrm>
          <a:prstGeom prst="ellipse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941448-DC72-99A7-C370-51713158C085}"/>
              </a:ext>
            </a:extLst>
          </p:cNvPr>
          <p:cNvSpPr/>
          <p:nvPr/>
        </p:nvSpPr>
        <p:spPr>
          <a:xfrm>
            <a:off x="1859476" y="3052309"/>
            <a:ext cx="5166115" cy="18288"/>
          </a:xfrm>
          <a:prstGeom prst="rect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C129C94-3581-ADC9-49AA-A75F4B89F556}"/>
              </a:ext>
            </a:extLst>
          </p:cNvPr>
          <p:cNvSpPr/>
          <p:nvPr/>
        </p:nvSpPr>
        <p:spPr>
          <a:xfrm>
            <a:off x="6995317" y="3012374"/>
            <a:ext cx="91440" cy="91440"/>
          </a:xfrm>
          <a:prstGeom prst="ellipse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E73B18-F703-5086-5BB0-5F0123B538F2}"/>
              </a:ext>
            </a:extLst>
          </p:cNvPr>
          <p:cNvSpPr/>
          <p:nvPr/>
        </p:nvSpPr>
        <p:spPr>
          <a:xfrm>
            <a:off x="3499481" y="3024877"/>
            <a:ext cx="91440" cy="91440"/>
          </a:xfrm>
          <a:prstGeom prst="ellipse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FB84D2-8B00-A2B2-4D95-EC84284F76AB}"/>
              </a:ext>
            </a:extLst>
          </p:cNvPr>
          <p:cNvSpPr/>
          <p:nvPr/>
        </p:nvSpPr>
        <p:spPr>
          <a:xfrm>
            <a:off x="5408985" y="3017780"/>
            <a:ext cx="91440" cy="91440"/>
          </a:xfrm>
          <a:prstGeom prst="ellipse">
            <a:avLst/>
          </a:prstGeom>
          <a:solidFill>
            <a:srgbClr val="00B4A6"/>
          </a:solidFill>
          <a:ln>
            <a:solidFill>
              <a:srgbClr val="00B4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701815-EC21-A300-7BCE-1019B07B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07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539A3-8FAA-40DE-8668-33182C19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541B269-E224-9AD0-E125-C5C492DCEA40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53060564-C948-48A6-5718-C723C64AD0FA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10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8ECD9A-4438-BEDB-041C-EC088702028A}"/>
              </a:ext>
            </a:extLst>
          </p:cNvPr>
          <p:cNvGrpSpPr/>
          <p:nvPr/>
        </p:nvGrpSpPr>
        <p:grpSpPr>
          <a:xfrm>
            <a:off x="385850" y="1962193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1B354B4-6685-CF62-92DE-262EE4EE365F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26FFDF3-77C6-71F9-BE60-602B05E75E1C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HOY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Arquitectura | Modelo financiero validado | Prototipo.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EEC3E78-E5EF-AFE1-0A16-F85869789D5F}"/>
              </a:ext>
            </a:extLst>
          </p:cNvPr>
          <p:cNvGrpSpPr/>
          <p:nvPr/>
        </p:nvGrpSpPr>
        <p:grpSpPr>
          <a:xfrm>
            <a:off x="3213030" y="1962193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E0F5E9A-073C-62A1-36BC-87785303DA14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B62CAAD-7BD7-A8E6-A640-63EA7758BFFE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MVP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React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web +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Kotlin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Android | Motor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matching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funcional.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441C68-DAD5-86E3-91F4-C0F4233F11E8}"/>
              </a:ext>
            </a:extLst>
          </p:cNvPr>
          <p:cNvGrpSpPr/>
          <p:nvPr/>
        </p:nvGrpSpPr>
        <p:grpSpPr>
          <a:xfrm>
            <a:off x="6020360" y="1962193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985F5D5-ECDB-F942-472E-BA3B2E8068F7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1A9F8-5E2A-D1AC-C2DF-BEBBE7407971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ES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Beta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Cohortes controladas; medir conversión, retención y CAC.</a:t>
              </a:r>
              <a:endParaRPr lang="es-ES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0D7139EA-F8D4-1435-E76D-5398DF404E44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0E45FB22-C7AB-D48A-DC2B-92326B072AE4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35BF201E-E9B9-4134-4CCE-F39EF58A9FF0}"/>
              </a:ext>
            </a:extLst>
          </p:cNvPr>
          <p:cNvSpPr/>
          <p:nvPr/>
        </p:nvSpPr>
        <p:spPr>
          <a:xfrm>
            <a:off x="1629294" y="3465340"/>
            <a:ext cx="5885411" cy="606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ES" sz="110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Crecimiento moderado y sostenible en adquisición (orden de magnitud ~5 % mensual en nuevos usuarios en supuesto base); foco en </a:t>
            </a:r>
            <a:r>
              <a:rPr lang="es-ES" sz="110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unit</a:t>
            </a:r>
            <a:r>
              <a:rPr lang="es-ES" sz="110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s-ES" sz="110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economics</a:t>
            </a:r>
            <a:r>
              <a:rPr lang="es-ES" sz="110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 y B2B.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6EC52D8-B2F8-7EC7-DBA8-C0021EA2C78F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Tracción y </a:t>
            </a:r>
            <a:r>
              <a:rPr lang="es-CO" sz="2400" b="1" noProof="0" dirty="0" err="1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Roadmap</a:t>
            </a:r>
            <a:endParaRPr lang="es-CO" sz="2400" b="1" noProof="0" dirty="0">
              <a:solidFill>
                <a:srgbClr val="00B4A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C3BC96-B73B-3DE1-8682-5A0E217A3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0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4A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FA4A4-1D0A-E2A8-8DDC-895989BE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79B0355-A100-5761-16A3-1B53E7EDDC59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FFD7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19B3BD8-827C-971B-5965-F1CF6C1D5C4A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11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BC3035B2-0A47-A5EE-8FBA-FCA822EABB3F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A0A40C9-6F02-9679-7A7D-F8C3A1CBB690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60B0FC-6EA5-A852-E9AF-2B1BC316CA89}"/>
              </a:ext>
            </a:extLst>
          </p:cNvPr>
          <p:cNvGrpSpPr/>
          <p:nvPr/>
        </p:nvGrpSpPr>
        <p:grpSpPr>
          <a:xfrm>
            <a:off x="385850" y="1795088"/>
            <a:ext cx="2625189" cy="1143416"/>
            <a:chOff x="914400" y="3066842"/>
            <a:chExt cx="2606040" cy="114341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D47AE7-5FB7-362E-30B3-2CA5F4B56940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5D4BBB9-14B0-6FDF-4145-E3ED769E5308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Santiago Amaya Zapata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CTO · Cloud / </a:t>
              </a: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Infrastructure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/ DevOps.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3D8E947-BAB5-7E07-1A8E-11905B34B2B2}"/>
              </a:ext>
            </a:extLst>
          </p:cNvPr>
          <p:cNvGrpSpPr/>
          <p:nvPr/>
        </p:nvGrpSpPr>
        <p:grpSpPr>
          <a:xfrm>
            <a:off x="3213030" y="1795088"/>
            <a:ext cx="2600629" cy="1143416"/>
            <a:chOff x="914400" y="3066842"/>
            <a:chExt cx="2606040" cy="114341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AADFB2D-FBB2-66DA-042A-AB11D78DC3F8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AF60B3C-1683-7DA5-4291-F9AC812B641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Andrés F. Calderón R.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Backend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· Software </a:t>
              </a: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Engineering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A980A5-C107-2F82-1BD0-73221D5752E5}"/>
              </a:ext>
            </a:extLst>
          </p:cNvPr>
          <p:cNvGrpSpPr/>
          <p:nvPr/>
        </p:nvGrpSpPr>
        <p:grpSpPr>
          <a:xfrm>
            <a:off x="6020360" y="1795088"/>
            <a:ext cx="2600629" cy="1143416"/>
            <a:chOff x="914400" y="3066842"/>
            <a:chExt cx="2606040" cy="11434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C5FF1FA-5CF2-66A4-2BB8-7F7C64A4028A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8AD03A5-2782-9333-40ED-ED8091A63A6C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Santiago Botero García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CEO · </a:t>
              </a: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Product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&amp; </a:t>
              </a: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Strategy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sp>
        <p:nvSpPr>
          <p:cNvPr id="14" name="Text 2">
            <a:extLst>
              <a:ext uri="{FF2B5EF4-FFF2-40B4-BE49-F238E27FC236}">
                <a16:creationId xmlns:a16="http://schemas.microsoft.com/office/drawing/2014/main" id="{4AB954BB-41BE-AA47-7B60-BCF9CC88C34F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FFD70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Equipo</a:t>
            </a:r>
            <a:r>
              <a:rPr lang="es-CO" sz="2400" b="1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 Full-Stack Técnico </a:t>
            </a:r>
            <a:r>
              <a:rPr lang="es-CO" sz="24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y</a:t>
            </a:r>
            <a:r>
              <a:rPr lang="es-CO" sz="2400" b="1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 Turismo</a:t>
            </a:r>
            <a:endParaRPr lang="es-CO" sz="2400" b="1" noProof="0" dirty="0">
              <a:solidFill>
                <a:srgbClr val="FFD70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2BBC21-2E24-6126-68D4-C5B15E132D45}"/>
              </a:ext>
            </a:extLst>
          </p:cNvPr>
          <p:cNvGrpSpPr/>
          <p:nvPr/>
        </p:nvGrpSpPr>
        <p:grpSpPr>
          <a:xfrm>
            <a:off x="1698444" y="3122549"/>
            <a:ext cx="2625189" cy="1143416"/>
            <a:chOff x="914400" y="3066842"/>
            <a:chExt cx="2606040" cy="114341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F595758-4955-0BE7-72BB-D4A59B41839C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BCEB48A-4083-27E4-17CA-82924FA30954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Laura N. Perilla Quintero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COO · Business / </a:t>
              </a:r>
              <a:r>
                <a:rPr lang="es-CO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Partnerships</a:t>
              </a:r>
              <a:r>
                <a:rPr lang="es-CO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/ GTM.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65B9B8-3616-F06B-82EC-8FBCCDC30518}"/>
              </a:ext>
            </a:extLst>
          </p:cNvPr>
          <p:cNvGrpSpPr/>
          <p:nvPr/>
        </p:nvGrpSpPr>
        <p:grpSpPr>
          <a:xfrm>
            <a:off x="4525624" y="3122549"/>
            <a:ext cx="260062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4CAD7E6-EEEE-0FAA-6A13-F92CAD41BD9F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FFD700"/>
            </a:solidFill>
            <a:ln>
              <a:solidFill>
                <a:srgbClr val="FFD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F067535-2B71-31A6-E677-2BF4F5236B41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1D57AB"/>
            </a:solidFill>
            <a:ln>
              <a:solidFill>
                <a:srgbClr val="1D57A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FFD700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Ricardo A. Ayala Garzón</a:t>
              </a:r>
            </a:p>
            <a:p>
              <a:pPr>
                <a:spcAft>
                  <a:spcPts val="400"/>
                </a:spcAft>
              </a:pPr>
              <a:r>
                <a:rPr lang="it-IT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Lead ML · AI / Data / </a:t>
              </a:r>
              <a:r>
                <a:rPr lang="it-IT" sz="1100" noProof="0" dirty="0" err="1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Recommendations</a:t>
              </a:r>
              <a:r>
                <a:rPr lang="it-IT" sz="1100" noProof="0" dirty="0">
                  <a:solidFill>
                    <a:srgbClr val="E6EDF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964F11D-C575-27D7-68C5-D8E2EF3D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77724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5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8109-A718-9D43-BAB1-92A9AB852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9B05552-1323-7800-FFFF-D4DC0BE72EF3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42B75F9F-0262-895D-FB6B-0A65A6D6E1CA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rPr>
              <a:t>12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7D6BF9-BED7-8E41-1805-6540A1939296}"/>
              </a:ext>
            </a:extLst>
          </p:cNvPr>
          <p:cNvGrpSpPr/>
          <p:nvPr/>
        </p:nvGrpSpPr>
        <p:grpSpPr>
          <a:xfrm>
            <a:off x="385850" y="1702759"/>
            <a:ext cx="2625189" cy="254884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8D602E2-AFE0-B42A-039C-CD2D1517772D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6CD4D98-5EE6-9B76-A876-02BAF8B217A4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Negocio y Finanzas</a:t>
              </a:r>
              <a:endParaRPr lang="es-CO" sz="1400" b="1" dirty="0">
                <a:solidFill>
                  <a:srgbClr val="0344A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Ingresos: 215M / 659M / 974M COP (años 1–3)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Margen bruto: ~67,5% | margen neto año 3: ~10,2%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EBITDA 36m: -51,7M COP | break-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even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neto en año 3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CAPEX: 218M COP |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burn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promedio: ~24,5M COP/mes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F37B1E-2803-EB1F-88B4-4EC001EEBF65}"/>
              </a:ext>
            </a:extLst>
          </p:cNvPr>
          <p:cNvGrpSpPr/>
          <p:nvPr/>
        </p:nvGrpSpPr>
        <p:grpSpPr>
          <a:xfrm>
            <a:off x="3213030" y="1702758"/>
            <a:ext cx="2600629" cy="2548847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857011A-26CF-B9D6-D1C6-B2F210760319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85BCBC1-12AA-A791-15F6-BE9EFDD25E54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Producto y tecnología 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CAC: 15k (free) / 45k (premium) / 1,8M (B2B) COP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Unit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economics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positivos con monetización free, premium y B2B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Costos IA,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APIs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y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cloud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modelados como costo marginal recurrente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FE5BC0-E0EE-C86A-7223-0331DD5E6BF5}"/>
              </a:ext>
            </a:extLst>
          </p:cNvPr>
          <p:cNvGrpSpPr/>
          <p:nvPr/>
        </p:nvGrpSpPr>
        <p:grpSpPr>
          <a:xfrm>
            <a:off x="6020360" y="1702759"/>
            <a:ext cx="2600629" cy="254884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1E218E-4EE9-A840-BE26-905F176225DC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1BA3DF"/>
            </a:solidFill>
            <a:ln>
              <a:solidFill>
                <a:srgbClr val="1BA3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A1C240A-F439-A642-32E9-9E7C037F98B8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0344A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Crecimiento y usuario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Crecimiento mensual de adquisición: 5%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Conversión free a premium: 10% inicial + 2% mensual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Churn: 12% free / 7% premium / 3% B2B</a:t>
              </a:r>
            </a:p>
            <a:p>
              <a:pPr marL="171450" indent="-171450">
                <a:spcAft>
                  <a:spcPts val="400"/>
                </a:spcAft>
                <a:buFont typeface="Wingdings" panose="05000000000000000000" pitchFamily="2" charset="2"/>
                <a:buChar char="ü"/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B2B desde mes 3: 2 clientes iniciales + 1 nuevo cliente/mes</a:t>
              </a:r>
              <a:endPara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A8578F09-2EF5-5698-08E1-333890B506FE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A3C9A9BB-3C35-D61D-D778-5E1BA2E8ACA4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D620AA4-CD44-A0CB-A6F5-CF10FFEF9527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2400" b="1" noProof="0" dirty="0" err="1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KPIs</a:t>
            </a:r>
            <a:r>
              <a:rPr lang="es-ES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 clave para el año 1</a:t>
            </a:r>
            <a:endParaRPr lang="es-CO" sz="2400" b="1" noProof="0" dirty="0">
              <a:solidFill>
                <a:srgbClr val="0A1227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20036B-263D-31BE-BB3E-8287DD6FE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5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3425-3042-8A04-DAFA-76161A55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91055D7-84F6-F888-F266-5318012EBFB8}"/>
              </a:ext>
            </a:extLst>
          </p:cNvPr>
          <p:cNvGrpSpPr/>
          <p:nvPr/>
        </p:nvGrpSpPr>
        <p:grpSpPr>
          <a:xfrm>
            <a:off x="1698444" y="3122549"/>
            <a:ext cx="2625189" cy="1143416"/>
            <a:chOff x="914400" y="3066842"/>
            <a:chExt cx="2606040" cy="114341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BE7C45D-1052-D60B-C939-1345ACDCF18F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34EC1D6-40A1-57D7-9212-E0D876DB3D02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Cambio regulatorio</a:t>
              </a:r>
            </a:p>
            <a:p>
              <a:pPr>
                <a:spcAft>
                  <a:spcPts val="400"/>
                </a:spcAft>
              </a:pPr>
              <a:r>
                <a:rPr lang="pt-BR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No dependemos subsidios | GDPR + RNT implementado.</a:t>
              </a:r>
            </a:p>
          </p:txBody>
        </p:sp>
      </p:grpSp>
      <p:sp>
        <p:nvSpPr>
          <p:cNvPr id="4" name="Text 2">
            <a:extLst>
              <a:ext uri="{FF2B5EF4-FFF2-40B4-BE49-F238E27FC236}">
                <a16:creationId xmlns:a16="http://schemas.microsoft.com/office/drawing/2014/main" id="{08253D79-52DD-E439-371D-0C718DCFB7B2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0A1227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04318C6-5175-1B79-D001-F68E5AE3A550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dirty="0">
                <a:solidFill>
                  <a:srgbClr val="DD13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r>
              <a:rPr lang="es-CO" sz="1200" noProof="0" dirty="0">
                <a:solidFill>
                  <a:srgbClr val="DD13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05932E-472B-31B3-5B57-05166C7CA03F}"/>
              </a:ext>
            </a:extLst>
          </p:cNvPr>
          <p:cNvGrpSpPr/>
          <p:nvPr/>
        </p:nvGrpSpPr>
        <p:grpSpPr>
          <a:xfrm>
            <a:off x="385850" y="1800915"/>
            <a:ext cx="2625189" cy="1143416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ACAA040-25C1-5381-4CEE-A9937E2FEA93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6ACF7FC-5CBC-7B2C-88DD-F3BAED0DC736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Crecimiento lento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Unit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economics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siguen positivos |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Pivot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B2B.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4E7EF8-118D-5AF8-CBEA-3812FA986646}"/>
              </a:ext>
            </a:extLst>
          </p:cNvPr>
          <p:cNvGrpSpPr/>
          <p:nvPr/>
        </p:nvGrpSpPr>
        <p:grpSpPr>
          <a:xfrm>
            <a:off x="3213030" y="1800915"/>
            <a:ext cx="2600629" cy="1143416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7CB8D27-F93B-6E49-5621-939559C0C206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1C9794D-F6D0-35FF-3D89-E5F87198087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Competidor global entra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Network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effect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+ operadores locales = 18-24 meses ventaja.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EAF094-ACD0-4E35-71E5-81E37DB2A76E}"/>
              </a:ext>
            </a:extLst>
          </p:cNvPr>
          <p:cNvGrpSpPr/>
          <p:nvPr/>
        </p:nvGrpSpPr>
        <p:grpSpPr>
          <a:xfrm>
            <a:off x="6020360" y="1800915"/>
            <a:ext cx="2600629" cy="1143416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BC80AB7-EBDF-69A6-94EE-BC0FB1082501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9755DF0-1EB6-18F8-9A71-C423FDFFCF98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MVP retrasado</a:t>
              </a:r>
            </a:p>
            <a:p>
              <a:pPr>
                <a:spcAft>
                  <a:spcPts val="400"/>
                </a:spcAft>
              </a:pPr>
              <a:r>
                <a:rPr lang="es-ES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Arquitectura documentada | Stack definido | Riesgo de ejecución.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0F985AAD-41F0-1679-6A05-41CFC8EFBE2F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EA6F766-E9A3-BF78-DB41-79E219867E5F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6B6CFCF-D324-F3B3-48A0-0E5648D2D3A0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DD13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Riesgos</a:t>
            </a:r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 y Mitigación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E0D2CE3-CE6C-5DB2-79C3-AA053685E52C}"/>
              </a:ext>
            </a:extLst>
          </p:cNvPr>
          <p:cNvGrpSpPr/>
          <p:nvPr/>
        </p:nvGrpSpPr>
        <p:grpSpPr>
          <a:xfrm>
            <a:off x="4525624" y="3122549"/>
            <a:ext cx="2600629" cy="1143416"/>
            <a:chOff x="914400" y="3066842"/>
            <a:chExt cx="2606040" cy="114341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4A2FE87-5DA3-DA66-A738-56E4721559D4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DD1311"/>
            </a:solidFill>
            <a:ln>
              <a:solidFill>
                <a:srgbClr val="DD13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44EC9F8-740F-ECCB-FEFC-49D5E3024BBD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CO" sz="1400" b="1" noProof="0" dirty="0">
                  <a:solidFill>
                    <a:srgbClr val="DD13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Usuarios no pagan premium</a:t>
              </a:r>
            </a:p>
            <a:p>
              <a:pPr>
                <a:spcAft>
                  <a:spcPts val="400"/>
                </a:spcAft>
              </a:pP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90% ingresos de comisiones | Premium = </a:t>
              </a:r>
              <a:r>
                <a:rPr lang="es-CO" sz="1100" noProof="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upside</a:t>
              </a:r>
              <a:r>
                <a:rPr lang="es-CO" sz="1100" noProof="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.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3E190D6-9E8B-C525-5BB9-AAF1A5CC6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80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34B0-F65F-F3F8-AC7A-5C9DB7AD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563375F2-E379-D922-AF4F-B31EF8559DA2}"/>
              </a:ext>
            </a:extLst>
          </p:cNvPr>
          <p:cNvSpPr/>
          <p:nvPr/>
        </p:nvSpPr>
        <p:spPr>
          <a:xfrm>
            <a:off x="386409" y="106794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s-CO" sz="2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150F84B-4351-2C96-413A-BD976FAC4706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14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6B83CA-6904-32BF-F793-0074C8BC1D3F}"/>
              </a:ext>
            </a:extLst>
          </p:cNvPr>
          <p:cNvGrpSpPr/>
          <p:nvPr/>
        </p:nvGrpSpPr>
        <p:grpSpPr>
          <a:xfrm>
            <a:off x="385850" y="1962193"/>
            <a:ext cx="2625189" cy="1386220"/>
            <a:chOff x="914400" y="3066842"/>
            <a:chExt cx="2606040" cy="114341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B551E57-3F9F-8735-B7F0-56BC36F1FA9B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B74F79A-2DAE-4F28-A976-1EF3C3FEFECD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ES" sz="1400" b="1" noProof="0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Validar precio</a:t>
              </a:r>
              <a:r>
                <a:rPr lang="es-CO" sz="1400" b="1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premium con cohorte beta (ej. $32.900 COP y paquetes B2B desde $700.000 COP/mes).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B17DB3-79F2-CF04-6FA4-150F9C0C2210}"/>
              </a:ext>
            </a:extLst>
          </p:cNvPr>
          <p:cNvGrpSpPr/>
          <p:nvPr/>
        </p:nvGrpSpPr>
        <p:grpSpPr>
          <a:xfrm>
            <a:off x="3213030" y="1962193"/>
            <a:ext cx="2600629" cy="1386220"/>
            <a:chOff x="914400" y="3066842"/>
            <a:chExt cx="2606040" cy="1143416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FDAC091-6DBC-6F7C-B89E-ABB73C8ADF89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FE322D1-B033-E5C3-B9A7-97FC5D36F3C3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pt-BR" sz="1400" b="1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Demostrar trayectoria</a:t>
              </a: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Ruta a utilidad neta positiva en año 3 en escenario base; sensibilidad documentada (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churn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, CAC,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take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rate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).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D5DF40B-3B5F-97DA-4DC9-71BBBB361FE9}"/>
              </a:ext>
            </a:extLst>
          </p:cNvPr>
          <p:cNvGrpSpPr/>
          <p:nvPr/>
        </p:nvGrpSpPr>
        <p:grpSpPr>
          <a:xfrm>
            <a:off x="6020360" y="1962193"/>
            <a:ext cx="2600629" cy="1386220"/>
            <a:chOff x="914400" y="3066842"/>
            <a:chExt cx="2606040" cy="114341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B7FD1D3-B278-08F3-CEEC-3CD7A3219E0A}"/>
                </a:ext>
              </a:extLst>
            </p:cNvPr>
            <p:cNvSpPr/>
            <p:nvPr/>
          </p:nvSpPr>
          <p:spPr>
            <a:xfrm>
              <a:off x="914400" y="3066842"/>
              <a:ext cx="2548890" cy="1143416"/>
            </a:xfrm>
            <a:prstGeom prst="roundRect">
              <a:avLst/>
            </a:prstGeom>
            <a:solidFill>
              <a:srgbClr val="00B4A6"/>
            </a:solidFill>
            <a:ln>
              <a:solidFill>
                <a:srgbClr val="00B4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BE5DC5C-CCF0-B26D-CD14-5DD1F21CD352}"/>
                </a:ext>
              </a:extLst>
            </p:cNvPr>
            <p:cNvSpPr/>
            <p:nvPr/>
          </p:nvSpPr>
          <p:spPr>
            <a:xfrm>
              <a:off x="971550" y="3066842"/>
              <a:ext cx="2548890" cy="1143416"/>
            </a:xfrm>
            <a:prstGeom prst="roundRect">
              <a:avLst/>
            </a:prstGeom>
            <a:solidFill>
              <a:srgbClr val="F5F7FA"/>
            </a:solidFill>
            <a:ln>
              <a:solidFill>
                <a:srgbClr val="F5F7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400"/>
                </a:spcAft>
              </a:pPr>
              <a:r>
                <a:rPr lang="es-ES" sz="1400" b="1" dirty="0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Eficiencia en costos transaccionales y </a:t>
              </a:r>
              <a:r>
                <a:rPr lang="es-ES" sz="1400" b="1" dirty="0" err="1">
                  <a:solidFill>
                    <a:srgbClr val="00B4A6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APIs</a:t>
              </a:r>
              <a:endParaRPr lang="es-ES" sz="1400" b="1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  <a:p>
              <a:pPr>
                <a:spcAft>
                  <a:spcPts val="400"/>
                </a:spcAft>
              </a:pP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Gobierno de uso, </a:t>
              </a:r>
              <a:r>
                <a:rPr lang="es-ES" sz="1100" dirty="0" err="1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caching</a:t>
              </a:r>
              <a:r>
                <a:rPr lang="es-ES" sz="1100" dirty="0">
                  <a:solidFill>
                    <a:srgbClr val="4A5568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/diseño de consultas, alertas de gasto.</a:t>
              </a:r>
            </a:p>
          </p:txBody>
        </p:sp>
      </p:grpSp>
      <p:sp>
        <p:nvSpPr>
          <p:cNvPr id="29" name="Text 4">
            <a:extLst>
              <a:ext uri="{FF2B5EF4-FFF2-40B4-BE49-F238E27FC236}">
                <a16:creationId xmlns:a16="http://schemas.microsoft.com/office/drawing/2014/main" id="{11AA9907-FDBD-F4DC-58AE-1DA94F500543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1955E957-AB12-39AB-2696-3AE12D66524B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4A55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4A5568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C2A6C85-3E48-EAD5-9687-F8EB4747164D}"/>
              </a:ext>
            </a:extLst>
          </p:cNvPr>
          <p:cNvSpPr/>
          <p:nvPr/>
        </p:nvSpPr>
        <p:spPr>
          <a:xfrm>
            <a:off x="386409" y="887893"/>
            <a:ext cx="6292735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2400" b="1" noProof="0" dirty="0">
                <a:solidFill>
                  <a:srgbClr val="0A1227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Condiciones para </a:t>
            </a:r>
            <a:r>
              <a:rPr lang="es-CO" sz="2400" b="1" noProof="0" dirty="0">
                <a:solidFill>
                  <a:srgbClr val="00B4A6"/>
                </a:solidFill>
                <a:latin typeface="Inter" panose="02000503000000020004" pitchFamily="2" charset="0"/>
                <a:ea typeface="Inter" panose="02000503000000020004" pitchFamily="2" charset="0"/>
              </a:rPr>
              <a:t>GO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C1F35D-EC25-90C9-49F4-26C865A4F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7" y="111722"/>
            <a:ext cx="779185" cy="77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6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0FB1-943E-0351-77D8-3BF0BB2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0815BBD-962E-F38A-522F-F7B19DDE9CA1}"/>
              </a:ext>
            </a:extLst>
          </p:cNvPr>
          <p:cNvSpPr/>
          <p:nvPr/>
        </p:nvSpPr>
        <p:spPr>
          <a:xfrm>
            <a:off x="386409" y="1067943"/>
            <a:ext cx="8322424" cy="90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3200" b="1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Únete al </a:t>
            </a:r>
            <a:r>
              <a:rPr lang="es-ES" sz="32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futuro del viaje</a:t>
            </a:r>
            <a:endParaRPr lang="es-CO" sz="32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97130F-CBCF-2B97-5787-AFED864527EF}"/>
              </a:ext>
            </a:extLst>
          </p:cNvPr>
          <p:cNvSpPr/>
          <p:nvPr/>
        </p:nvSpPr>
        <p:spPr>
          <a:xfrm>
            <a:off x="1630432" y="3342662"/>
            <a:ext cx="5883136" cy="542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ES" sz="14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Buscamos </a:t>
            </a:r>
            <a:r>
              <a:rPr lang="es-ES" sz="1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~550M COP </a:t>
            </a:r>
            <a:r>
              <a:rPr lang="es-ES" sz="14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para CAPEX, </a:t>
            </a:r>
            <a:r>
              <a:rPr lang="es-ES" sz="1400" noProof="0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runway</a:t>
            </a:r>
            <a:r>
              <a:rPr lang="es-ES" sz="14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 hasta hitos de tracción y colchón operativo, complementando la deuda prevista de </a:t>
            </a:r>
            <a:r>
              <a:rPr lang="es-ES" sz="1400" b="1" noProof="0" dirty="0">
                <a:solidFill>
                  <a:srgbClr val="1BA3DF"/>
                </a:solidFill>
                <a:latin typeface="Inter" panose="02000503000000020004" pitchFamily="2" charset="0"/>
                <a:ea typeface="Inter" panose="02000503000000020004" pitchFamily="2" charset="0"/>
              </a:rPr>
              <a:t>95M COP.</a:t>
            </a:r>
            <a:endParaRPr lang="es-CO" sz="1400" b="1" noProof="0" dirty="0">
              <a:solidFill>
                <a:srgbClr val="1BA3D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6C9C22-402B-CA24-73FF-1A8E761E52AA}"/>
              </a:ext>
            </a:extLst>
          </p:cNvPr>
          <p:cNvSpPr/>
          <p:nvPr/>
        </p:nvSpPr>
        <p:spPr>
          <a:xfrm>
            <a:off x="8416635" y="332509"/>
            <a:ext cx="408709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CO" sz="12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15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5BCF4107-F493-418D-594C-169D4746FB15}"/>
              </a:ext>
            </a:extLst>
          </p:cNvPr>
          <p:cNvSpPr/>
          <p:nvPr/>
        </p:nvSpPr>
        <p:spPr>
          <a:xfrm>
            <a:off x="447500" y="4431655"/>
            <a:ext cx="1195645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s-CO" sz="11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Pitch Deck 2026</a:t>
            </a: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916D3345-77D9-655B-165B-05A2F58BD535}"/>
              </a:ext>
            </a:extLst>
          </p:cNvPr>
          <p:cNvSpPr/>
          <p:nvPr/>
        </p:nvSpPr>
        <p:spPr>
          <a:xfrm>
            <a:off x="8227522" y="4431654"/>
            <a:ext cx="597822" cy="36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Aft>
                <a:spcPts val="800"/>
              </a:spcAft>
              <a:buSzPct val="100000"/>
            </a:pPr>
            <a:r>
              <a:rPr lang="es-CO" sz="1100" noProof="0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100" noProof="0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5A44C02E-B15A-D765-0A3D-53FF469A00DC}"/>
              </a:ext>
            </a:extLst>
          </p:cNvPr>
          <p:cNvSpPr/>
          <p:nvPr/>
        </p:nvSpPr>
        <p:spPr>
          <a:xfrm>
            <a:off x="563187" y="1981320"/>
            <a:ext cx="8322425" cy="542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800"/>
              </a:spcAft>
              <a:buSzPct val="100000"/>
            </a:pPr>
            <a:r>
              <a:rPr lang="es-ES" sz="1400" noProof="0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Estamos revolucionando la forma en que el mundo viaja. ¿Te unes a la aventura? </a:t>
            </a:r>
            <a:endParaRPr lang="es-CO" sz="1400" noProof="0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6F78D2-8F48-94B9-076B-B4E65AA5DC7D}"/>
              </a:ext>
            </a:extLst>
          </p:cNvPr>
          <p:cNvSpPr/>
          <p:nvPr/>
        </p:nvSpPr>
        <p:spPr>
          <a:xfrm>
            <a:off x="3263811" y="2663717"/>
            <a:ext cx="2567619" cy="542770"/>
          </a:xfrm>
          <a:prstGeom prst="roundRect">
            <a:avLst>
              <a:gd name="adj" fmla="val 32451"/>
            </a:avLst>
          </a:prstGeom>
          <a:solidFill>
            <a:srgbClr val="0344A2"/>
          </a:solidFill>
          <a:ln>
            <a:solidFill>
              <a:srgbClr val="0344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lang="es-CO" sz="1400" b="1" dirty="0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Invertir en </a:t>
            </a:r>
            <a:r>
              <a:rPr lang="es-CO" sz="1400" b="1" dirty="0" err="1">
                <a:solidFill>
                  <a:srgbClr val="E6EDF6"/>
                </a:solidFill>
                <a:latin typeface="Inter" panose="02000503000000020004" pitchFamily="2" charset="0"/>
                <a:ea typeface="Inter" panose="02000503000000020004" pitchFamily="2" charset="0"/>
              </a:rPr>
              <a:t>SmarTrip</a:t>
            </a:r>
            <a:endParaRPr lang="es-CO" sz="1400" b="1" dirty="0">
              <a:solidFill>
                <a:srgbClr val="E6EDF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EB9F50-07D8-82A1-C1CA-A8DB278BB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777240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86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1077</Words>
  <Application>Microsoft Office PowerPoint</Application>
  <PresentationFormat>On-screen Show (16:9)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SmarTrip – Investor Pitch Deck</dc:title>
  <dc:subject>PptxGenJS Presentation</dc:subject>
  <dc:creator>SmarTrip</dc:creator>
  <cp:lastModifiedBy>SANTIAGO  BOTERO GARCIA</cp:lastModifiedBy>
  <cp:revision>164</cp:revision>
  <dcterms:created xsi:type="dcterms:W3CDTF">2026-05-02T01:11:44Z</dcterms:created>
  <dcterms:modified xsi:type="dcterms:W3CDTF">2026-05-08T05:09:32Z</dcterms:modified>
</cp:coreProperties>
</file>